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22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5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Relationship Id="rId4" Type="http://schemas.openxmlformats.org/officeDocument/2006/relationships/image" Target="../media/image7.png"/><Relationship Id="rId5" Type="http://schemas.openxmlformats.org/officeDocument/2006/relationships/image" Target="../media/image25.png"/><Relationship Id="rId6" Type="http://schemas.openxmlformats.org/officeDocument/2006/relationships/image" Target="../media/image11.png"/><Relationship Id="rId7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ПМ.03   ·   УЧЕБНАЯ ПРАКТИКА   ·   2026</a:t>
            </a:r>
            <a:r>
              <a:rPr lang="ru-RU" sz="105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Сопровождение и</a:t>
            </a:r>
            <a:endParaRPr lang="en-US" sz="40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обслуживание ПО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651760" cy="457200"/>
          </a:xfrm>
          <a:prstGeom prst="rect">
            <a:avLst/>
          </a:prstGeom>
          <a:solidFill>
            <a:srgbClr val="19233C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99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SubscriptionManager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05740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Салимгараев Амир Ильдарович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85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57400" y="3685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9/3-РПО-23/1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032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057400" y="40325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Дубель Александр Андреевич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379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057400" y="4379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27.05.2026 – 09.06.2026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2697480" cy="3749040"/>
          </a:xfrm>
          <a:prstGeom prst="rect">
            <a:avLst/>
          </a:prstGeom>
          <a:solidFill>
            <a:srgbClr val="19233C"/>
          </a:solidFill>
          <a:ln w="9525">
            <a:solidFill>
              <a:srgbClr val="2A3756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5897880" y="822960"/>
            <a:ext cx="2697480" cy="45720"/>
          </a:xfrm>
          <a:prstGeom prst="rect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6172200" y="1024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1481328"/>
            <a:ext cx="475488" cy="475488"/>
          </a:xfrm>
          <a:prstGeom prst="ellipse">
            <a:avLst/>
          </a:prstGeom>
          <a:solidFill>
            <a:srgbClr val="101729"/>
          </a:solidFill>
          <a:ln w="12700">
            <a:solidFill>
              <a:srgbClr val="1017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582" y="1609710"/>
            <a:ext cx="218724" cy="2187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784848" y="1463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Android-приложение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784848" y="17190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пользователя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09944" y="1993392"/>
            <a:ext cx="0" cy="457200"/>
          </a:xfrm>
          <a:prstGeom prst="line">
            <a:avLst/>
          </a:prstGeom>
          <a:noFill/>
          <a:ln w="12700">
            <a:solidFill>
              <a:srgbClr val="2F3D60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0"/>
          <p:cNvSpPr/>
          <p:nvPr/>
        </p:nvSpPr>
        <p:spPr>
          <a:xfrm>
            <a:off x="6172200" y="2505456"/>
            <a:ext cx="475488" cy="475488"/>
          </a:xfrm>
          <a:prstGeom prst="ellipse">
            <a:avLst/>
          </a:prstGeom>
          <a:solidFill>
            <a:srgbClr val="101729"/>
          </a:solidFill>
          <a:ln w="12700">
            <a:solidFill>
              <a:srgbClr val="1017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582" y="2633838"/>
            <a:ext cx="218724" cy="21872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784848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Backend-сервис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784848" y="27432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данных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409944" y="3017520"/>
            <a:ext cx="0" cy="457200"/>
          </a:xfrm>
          <a:prstGeom prst="line">
            <a:avLst/>
          </a:prstGeom>
          <a:noFill/>
          <a:ln w="12700">
            <a:solidFill>
              <a:srgbClr val="2F3D60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28" name="Shape 24"/>
          <p:cNvSpPr/>
          <p:nvPr/>
        </p:nvSpPr>
        <p:spPr>
          <a:xfrm>
            <a:off x="6172200" y="3529584"/>
            <a:ext cx="475488" cy="475488"/>
          </a:xfrm>
          <a:prstGeom prst="ellipse">
            <a:avLst/>
          </a:prstGeom>
          <a:solidFill>
            <a:srgbClr val="101729"/>
          </a:solidFill>
          <a:ln w="12700">
            <a:solidFill>
              <a:srgbClr val="1017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582" y="3657966"/>
            <a:ext cx="218724" cy="21872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784848" y="351129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Room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6784848" y="37673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Локальное хранилище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ПРОЕКТЕ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C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такое SubscriptionManager?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680960" y="329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1605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для учёта подписок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84708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добавляет подписки — Netflix, Spotify, игровые сервисы, облако — и сразу видит: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329184" cy="329184"/>
          </a:xfrm>
          <a:prstGeom prst="ellipse">
            <a:avLst/>
          </a:prstGeom>
          <a:solidFill>
            <a:srgbClr val="F4E7CB"/>
          </a:solidFill>
          <a:ln w="12700">
            <a:solidFill>
              <a:srgbClr val="F4E7C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840" y="2786360"/>
            <a:ext cx="151425" cy="1514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26974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Общие расходы за месяц и год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3264408"/>
            <a:ext cx="329184" cy="329184"/>
          </a:xfrm>
          <a:prstGeom prst="ellipse">
            <a:avLst/>
          </a:prstGeom>
          <a:solidFill>
            <a:srgbClr val="F4E7CB"/>
          </a:solidFill>
          <a:ln w="12700">
            <a:solidFill>
              <a:srgbClr val="F4E7C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840" y="3353288"/>
            <a:ext cx="151425" cy="1514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32644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всех активных подписок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" y="3831336"/>
            <a:ext cx="329184" cy="329184"/>
          </a:xfrm>
          <a:prstGeom prst="ellipse">
            <a:avLst/>
          </a:prstGeom>
          <a:solidFill>
            <a:srgbClr val="F4E7CB"/>
          </a:solidFill>
          <a:ln w="12700">
            <a:solidFill>
              <a:srgbClr val="F4E7C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840" y="3920216"/>
            <a:ext cx="151425" cy="1514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8313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и сколько нужно заплатить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29200" y="1234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ЧЕГО СОСТОИТ СИСТЕМА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029200" y="1600200"/>
            <a:ext cx="356616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4"/>
          <p:cNvSpPr/>
          <p:nvPr/>
        </p:nvSpPr>
        <p:spPr>
          <a:xfrm>
            <a:off x="5230368" y="1801368"/>
            <a:ext cx="457200" cy="457200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812" y="1924812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33872" y="174650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Android-приложение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833872" y="2039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для пользователя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029200" y="2587752"/>
            <a:ext cx="356616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Shape 18"/>
          <p:cNvSpPr/>
          <p:nvPr/>
        </p:nvSpPr>
        <p:spPr>
          <a:xfrm>
            <a:off x="5230368" y="2788920"/>
            <a:ext cx="457200" cy="457200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3812" y="2912364"/>
            <a:ext cx="210312" cy="2103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833872" y="27340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Backend-сервис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833872" y="30266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Хранит и обрабатывает данные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5029200" y="3575304"/>
            <a:ext cx="356616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2"/>
          <p:cNvSpPr/>
          <p:nvPr/>
        </p:nvSpPr>
        <p:spPr>
          <a:xfrm>
            <a:off x="5230368" y="3776472"/>
            <a:ext cx="457200" cy="457200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3812" y="3899916"/>
            <a:ext cx="210312" cy="21031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833872" y="37216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Room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5833872" y="4014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Локальное хранилище данных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C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Почему одной разработки недостаточно?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680960" y="329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Написать код — только первый шаг. Программу нужно сопровождать: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261518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731520" y="162763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9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53312" y="1591056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Запускать и настраивать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481328"/>
            <a:ext cx="261518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474720" y="162763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9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096512" y="1591056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Проверять работоспособность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261518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731520" y="261518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9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53312" y="2578608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Защищать от атак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91840" y="2468880"/>
            <a:ext cx="261518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3474720" y="261518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9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096512" y="2578608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Смотреть логи при сбоях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456432"/>
            <a:ext cx="261518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731520" y="360273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9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53312" y="356616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Делать резервные копии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91840" y="3456432"/>
            <a:ext cx="261518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3474720" y="360273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9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096512" y="356616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Измерять скорость работы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1481328"/>
            <a:ext cx="2331720" cy="2962656"/>
          </a:xfrm>
          <a:prstGeom prst="rect">
            <a:avLst/>
          </a:prstGeom>
          <a:solidFill>
            <a:srgbClr val="1E2C4C"/>
          </a:solidFill>
          <a:ln/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6263640" y="1481328"/>
            <a:ext cx="2331720" cy="45720"/>
          </a:xfrm>
          <a:prstGeom prst="rect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6492240" y="1755648"/>
            <a:ext cx="457200" cy="457200"/>
          </a:xfrm>
          <a:prstGeom prst="ellipse">
            <a:avLst/>
          </a:prstGeom>
          <a:solidFill>
            <a:srgbClr val="101729"/>
          </a:solidFill>
          <a:ln w="12700">
            <a:solidFill>
              <a:srgbClr val="1017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1879092"/>
            <a:ext cx="210312" cy="21031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492240" y="23591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ВЫВОД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92240" y="265176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Сопровождение делает систему надёжной и понятной в работе.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492240" y="361188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сопровождения программа может «упасть» и остаться без внимания.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C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Цель и задачи практики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680960" y="329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solidFill>
            <a:srgbClr val="1E2C4C"/>
          </a:solidFill>
          <a:ln/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91440" cy="960120"/>
          </a:xfrm>
          <a:prstGeom prst="rect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868680" y="1307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ПРАКТИКИ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53619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Выполнить работы по сопровождению системы SubscriptionManager — настроить запуск, контроль состояния, безопасность, логирование, измерение времени ответа и резервное копирование.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1956816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694944" y="2542032"/>
            <a:ext cx="365760" cy="365760"/>
          </a:xfrm>
          <a:prstGeom prst="ellipse">
            <a:avLst/>
          </a:prstGeom>
          <a:solidFill>
            <a:srgbClr val="F4E7CB"/>
          </a:solidFill>
          <a:ln w="12700">
            <a:solidFill>
              <a:srgbClr val="F4E7C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2640787"/>
            <a:ext cx="168250" cy="1682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52144" y="254203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Backend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94944" y="298094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запуск сервиса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578608" y="2395728"/>
            <a:ext cx="1956816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2724912" y="2542032"/>
            <a:ext cx="365760" cy="365760"/>
          </a:xfrm>
          <a:prstGeom prst="ellipse">
            <a:avLst/>
          </a:prstGeom>
          <a:solidFill>
            <a:srgbClr val="F4E7CB"/>
          </a:solidFill>
          <a:ln w="12700">
            <a:solidFill>
              <a:srgbClr val="F4E7C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3667" y="2640787"/>
            <a:ext cx="168250" cy="1682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182112" y="254203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724912" y="298094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состояния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608576" y="2395728"/>
            <a:ext cx="1956816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Shape 16"/>
          <p:cNvSpPr/>
          <p:nvPr/>
        </p:nvSpPr>
        <p:spPr>
          <a:xfrm>
            <a:off x="4754880" y="2542032"/>
            <a:ext cx="365760" cy="365760"/>
          </a:xfrm>
          <a:prstGeom prst="ellipse">
            <a:avLst/>
          </a:prstGeom>
          <a:solidFill>
            <a:srgbClr val="F4E7CB"/>
          </a:solidFill>
          <a:ln w="12700">
            <a:solidFill>
              <a:srgbClr val="F4E7C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635" y="2640787"/>
            <a:ext cx="168250" cy="1682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12080" y="254203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754880" y="298094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Настроить защиту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638544" y="2395728"/>
            <a:ext cx="1956816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5" name="Shape 20"/>
          <p:cNvSpPr/>
          <p:nvPr/>
        </p:nvSpPr>
        <p:spPr>
          <a:xfrm>
            <a:off x="6784848" y="2542032"/>
            <a:ext cx="365760" cy="365760"/>
          </a:xfrm>
          <a:prstGeom prst="ellipse">
            <a:avLst/>
          </a:prstGeom>
          <a:solidFill>
            <a:srgbClr val="F4E7CB"/>
          </a:solidFill>
          <a:ln w="12700">
            <a:solidFill>
              <a:srgbClr val="F4E7C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3603" y="2640787"/>
            <a:ext cx="168250" cy="16825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42048" y="254203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Логирование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784848" y="298094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событий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1563624" y="3493008"/>
            <a:ext cx="1956816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0" name="Shape 24"/>
          <p:cNvSpPr/>
          <p:nvPr/>
        </p:nvSpPr>
        <p:spPr>
          <a:xfrm>
            <a:off x="1709928" y="3639312"/>
            <a:ext cx="365760" cy="365760"/>
          </a:xfrm>
          <a:prstGeom prst="ellipse">
            <a:avLst/>
          </a:prstGeom>
          <a:solidFill>
            <a:srgbClr val="F4E7CB"/>
          </a:solidFill>
          <a:ln w="12700">
            <a:solidFill>
              <a:srgbClr val="F4E7C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8683" y="3738067"/>
            <a:ext cx="168250" cy="16825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167128" y="363931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API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1709928" y="407822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Измерить время ответа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3593592" y="3493008"/>
            <a:ext cx="1956816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5" name="Shape 28"/>
          <p:cNvSpPr/>
          <p:nvPr/>
        </p:nvSpPr>
        <p:spPr>
          <a:xfrm>
            <a:off x="3739896" y="3639312"/>
            <a:ext cx="365760" cy="365760"/>
          </a:xfrm>
          <a:prstGeom prst="ellipse">
            <a:avLst/>
          </a:prstGeom>
          <a:solidFill>
            <a:srgbClr val="F4E7CB"/>
          </a:solidFill>
          <a:ln w="12700">
            <a:solidFill>
              <a:srgbClr val="F4E7C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8651" y="3738067"/>
            <a:ext cx="168250" cy="16825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197096" y="363931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Резервные копии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3739896" y="407822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Настроить backup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5623560" y="3493008"/>
            <a:ext cx="1956816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0" name="Shape 32"/>
          <p:cNvSpPr/>
          <p:nvPr/>
        </p:nvSpPr>
        <p:spPr>
          <a:xfrm>
            <a:off x="5769864" y="3639312"/>
            <a:ext cx="365760" cy="365760"/>
          </a:xfrm>
          <a:prstGeom prst="ellipse">
            <a:avLst/>
          </a:prstGeom>
          <a:solidFill>
            <a:srgbClr val="F4E7CB"/>
          </a:solidFill>
          <a:ln w="12700">
            <a:solidFill>
              <a:srgbClr val="F4E7C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8619" y="3738067"/>
            <a:ext cx="168250" cy="16825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227064" y="363931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 и тесты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5769864" y="407822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Gradle-сборка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C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Общая схема системы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680960" y="329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28600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426464" y="1591056"/>
            <a:ext cx="530352" cy="530352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659" y="1734251"/>
            <a:ext cx="243962" cy="243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2128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25054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Android-клиент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804" y="2057400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29000" y="1371600"/>
            <a:ext cx="228600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8"/>
          <p:cNvSpPr/>
          <p:nvPr/>
        </p:nvSpPr>
        <p:spPr>
          <a:xfrm>
            <a:off x="4306824" y="1591056"/>
            <a:ext cx="530352" cy="530352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0019" y="1734251"/>
            <a:ext cx="243962" cy="2439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20440" y="22128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520440" y="25054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Принимает запросы</a:t>
            </a:r>
            <a:endParaRPr lang="en-US" sz="10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164" y="2057400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309360" y="1371600"/>
            <a:ext cx="228600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2"/>
          <p:cNvSpPr/>
          <p:nvPr/>
        </p:nvSpPr>
        <p:spPr>
          <a:xfrm>
            <a:off x="7187184" y="1591056"/>
            <a:ext cx="530352" cy="530352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0379" y="1734251"/>
            <a:ext cx="243962" cy="24396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00800" y="22128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6400800" y="25054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Хранит данные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548640" y="3310128"/>
            <a:ext cx="8046720" cy="896112"/>
          </a:xfrm>
          <a:prstGeom prst="rect">
            <a:avLst/>
          </a:prstGeom>
          <a:solidFill>
            <a:srgbClr val="1E2C4C"/>
          </a:solidFill>
          <a:ln/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3" name="Shape 16"/>
          <p:cNvSpPr/>
          <p:nvPr/>
        </p:nvSpPr>
        <p:spPr>
          <a:xfrm>
            <a:off x="548640" y="3310128"/>
            <a:ext cx="8046720" cy="45720"/>
          </a:xfrm>
          <a:prstGeom prst="rect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Shape 17"/>
          <p:cNvSpPr/>
          <p:nvPr/>
        </p:nvSpPr>
        <p:spPr>
          <a:xfrm>
            <a:off x="822960" y="3520440"/>
            <a:ext cx="475488" cy="475488"/>
          </a:xfrm>
          <a:prstGeom prst="ellipse">
            <a:avLst/>
          </a:prstGeom>
          <a:solidFill>
            <a:srgbClr val="101729"/>
          </a:solidFill>
          <a:ln w="12700">
            <a:solidFill>
              <a:srgbClr val="1017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42" y="3648822"/>
            <a:ext cx="218724" cy="21872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63040" y="34564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Сопровождение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1463040" y="374904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Мониторинг, безопасность и резервное копирование — охватывает все уровни системы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1E2C4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Shape 21"/>
          <p:cNvSpPr/>
          <p:nvPr/>
        </p:nvSpPr>
        <p:spPr>
          <a:xfrm>
            <a:off x="0" y="4722876"/>
            <a:ext cx="109728" cy="420624"/>
          </a:xfrm>
          <a:prstGeom prst="rect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2"/>
          <p:cNvSpPr/>
          <p:nvPr/>
        </p:nvSpPr>
        <p:spPr>
          <a:xfrm>
            <a:off x="548640" y="472287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Сопровождение охватывает всю цепочку — от Android-клиента до базы данных.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C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— выполненные работы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680960" y="329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59689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713232" y="1444752"/>
            <a:ext cx="402336" cy="402336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63" y="1553383"/>
            <a:ext cx="185075" cy="185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25296" y="144475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endpoint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3232" y="1956816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— сервер живёт и отвечает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73552" y="1280160"/>
            <a:ext cx="259689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3438144" y="1444752"/>
            <a:ext cx="402336" cy="402336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775" y="1553383"/>
            <a:ext cx="185075" cy="185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50208" y="144475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Логирование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38144" y="1956816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Журнал: статус, время, IP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998464" y="1280160"/>
            <a:ext cx="259689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2"/>
          <p:cNvSpPr/>
          <p:nvPr/>
        </p:nvSpPr>
        <p:spPr>
          <a:xfrm>
            <a:off x="6163056" y="1444752"/>
            <a:ext cx="402336" cy="402336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1687" y="1553383"/>
            <a:ext cx="185075" cy="1850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144475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63056" y="1956816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HTTP-ответов от атак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2862072"/>
            <a:ext cx="259689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6"/>
          <p:cNvSpPr/>
          <p:nvPr/>
        </p:nvSpPr>
        <p:spPr>
          <a:xfrm>
            <a:off x="713232" y="3026664"/>
            <a:ext cx="402336" cy="402336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863" y="3135295"/>
            <a:ext cx="185075" cy="1850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25296" y="302666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13232" y="353872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перегрузки запросами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73552" y="2862072"/>
            <a:ext cx="259689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6" name="Shape 20"/>
          <p:cNvSpPr/>
          <p:nvPr/>
        </p:nvSpPr>
        <p:spPr>
          <a:xfrm>
            <a:off x="3438144" y="3026664"/>
            <a:ext cx="402336" cy="402336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6775" y="3135295"/>
            <a:ext cx="185075" cy="18507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50208" y="302666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Замер скорости API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438144" y="353872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AVG / MAX время ответа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998464" y="2862072"/>
            <a:ext cx="259689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4"/>
          <p:cNvSpPr/>
          <p:nvPr/>
        </p:nvSpPr>
        <p:spPr>
          <a:xfrm>
            <a:off x="6163056" y="3026664"/>
            <a:ext cx="402336" cy="402336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1687" y="3135295"/>
            <a:ext cx="185075" cy="18507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75120" y="302666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Резервные копии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163056" y="353872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 backup базы данных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1E2C4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Shape 28"/>
          <p:cNvSpPr/>
          <p:nvPr/>
        </p:nvSpPr>
        <p:spPr>
          <a:xfrm>
            <a:off x="0" y="4722876"/>
            <a:ext cx="109728" cy="420624"/>
          </a:xfrm>
          <a:prstGeom prst="rect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29"/>
          <p:cNvSpPr/>
          <p:nvPr/>
        </p:nvSpPr>
        <p:spPr>
          <a:xfrm>
            <a:off x="548640" y="472287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теперь не просто работает — его можно контролировать и обслуживать.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МОНИТОРИНГ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C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Проверка состояния — /health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680960" y="329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9776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804672" y="14173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/health?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75564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C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r>
              <a:rPr lang="en-US" sz="110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специальный адрес на сервере. Любой может обратиться к нему и узнать состояние: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4672" y="2432304"/>
            <a:ext cx="3474720" cy="384048"/>
          </a:xfrm>
          <a:prstGeom prst="rect">
            <a:avLst/>
          </a:prstGeom>
          <a:solidFill>
            <a:srgbClr val="E5F0E7"/>
          </a:solidFill>
          <a:ln w="12700">
            <a:solidFill>
              <a:srgbClr val="E5F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932688" y="24323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«ok»</a:t>
            </a:r>
            <a:r>
              <a:rPr lang="en-US" sz="10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сервер работает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" y="2889504"/>
            <a:ext cx="3474720" cy="384048"/>
          </a:xfrm>
          <a:prstGeom prst="rect">
            <a:avLst/>
          </a:prstGeom>
          <a:solidFill>
            <a:srgbClr val="F7E5E0"/>
          </a:solidFill>
          <a:ln w="12700">
            <a:solidFill>
              <a:srgbClr val="F7E5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932688" y="28895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55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нет ответа</a:t>
            </a:r>
            <a:r>
              <a:rPr lang="en-US" sz="10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сервер недоступен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34198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 для: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3657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администратора системы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Android-приложения (перед запросами)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 мониторинга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371600"/>
            <a:ext cx="3703320" cy="2377440"/>
          </a:xfrm>
          <a:prstGeom prst="rect">
            <a:avLst/>
          </a:prstGeom>
          <a:solidFill>
            <a:srgbClr val="141C30"/>
          </a:solidFill>
          <a:ln w="12700">
            <a:solidFill>
              <a:srgbClr val="141C30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892040" y="1371600"/>
            <a:ext cx="3703320" cy="310896"/>
          </a:xfrm>
          <a:prstGeom prst="rect">
            <a:avLst/>
          </a:prstGeom>
          <a:solidFill>
            <a:srgbClr val="0C1222"/>
          </a:solidFill>
          <a:ln w="12700">
            <a:solidFill>
              <a:srgbClr val="0C122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5020056" y="1485900"/>
            <a:ext cx="82296" cy="82296"/>
          </a:xfrm>
          <a:prstGeom prst="ellipse">
            <a:avLst/>
          </a:prstGeom>
          <a:solidFill>
            <a:srgbClr val="E2604E"/>
          </a:solidFill>
          <a:ln w="12700">
            <a:solidFill>
              <a:srgbClr val="E260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5184648" y="1485900"/>
            <a:ext cx="82296" cy="82296"/>
          </a:xfrm>
          <a:prstGeom prst="ellipse">
            <a:avLst/>
          </a:prstGeom>
          <a:solidFill>
            <a:srgbClr val="E8B53E"/>
          </a:solidFill>
          <a:ln w="12700">
            <a:solidFill>
              <a:srgbClr val="E8B5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5349240" y="1485900"/>
            <a:ext cx="82296" cy="82296"/>
          </a:xfrm>
          <a:prstGeom prst="ellipse">
            <a:avLst/>
          </a:prstGeom>
          <a:solidFill>
            <a:srgbClr val="57B45F"/>
          </a:solidFill>
          <a:ln w="12700">
            <a:solidFill>
              <a:srgbClr val="57B4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5577840" y="137160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8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/health  -&gt;  200 OK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93208" y="1792224"/>
            <a:ext cx="3300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000" dirty="0">
                <a:solidFill>
                  <a:srgbClr val="D8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00" dirty="0">
                <a:solidFill>
                  <a:srgbClr val="D8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   </a:t>
            </a:r>
            <a:r>
              <a:rPr lang="en-US" sz="1000" b="1" dirty="0">
                <a:solidFill>
                  <a:srgbClr val="8FD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"ok",</a:t>
            </a:r>
            <a:endParaRPr lang="en-US" sz="10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00" dirty="0">
                <a:solidFill>
                  <a:srgbClr val="D8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"service":   </a:t>
            </a:r>
            <a:r>
              <a:rPr lang="en-US" sz="1000" dirty="0">
                <a:solidFill>
                  <a:srgbClr val="E8C6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"SubscriptionManager",</a:t>
            </a:r>
            <a:endParaRPr lang="en-US" sz="10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00" dirty="0">
                <a:solidFill>
                  <a:srgbClr val="D8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"database":  </a:t>
            </a:r>
            <a:r>
              <a:rPr lang="en-US" sz="1000" dirty="0">
                <a:solidFill>
                  <a:srgbClr val="8FD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"connected",</a:t>
            </a:r>
            <a:endParaRPr lang="en-US" sz="10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00" dirty="0">
                <a:solidFill>
                  <a:srgbClr val="D8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 </a:t>
            </a:r>
            <a:r>
              <a:rPr lang="en-US" sz="1000" dirty="0">
                <a:solidFill>
                  <a:srgbClr val="7C8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"2026-05-28T10:14:22Z",</a:t>
            </a:r>
            <a:endParaRPr lang="en-US" sz="10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00" dirty="0">
                <a:solidFill>
                  <a:srgbClr val="D8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"version":   </a:t>
            </a:r>
            <a:r>
              <a:rPr lang="en-US" sz="1000" dirty="0">
                <a:solidFill>
                  <a:srgbClr val="7C8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"1.0.0"</a:t>
            </a:r>
            <a:endParaRPr lang="en-US" sz="10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00" dirty="0">
                <a:solidFill>
                  <a:srgbClr val="D8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9319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запрос — и сразу понятно,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ли сервер.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1E2C4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0" y="4722876"/>
            <a:ext cx="109728" cy="420624"/>
          </a:xfrm>
          <a:prstGeom prst="rect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48640" y="472287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 сервера видно мгновенно — без подключения к консоли.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ЛОГИРОВАНИЕ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C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Логирование — журнал событий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680960" y="329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9776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804672" y="1444752"/>
            <a:ext cx="402336" cy="402336"/>
          </a:xfrm>
          <a:prstGeom prst="ellipse">
            <a:avLst/>
          </a:prstGeom>
          <a:solidFill>
            <a:srgbClr val="F4E7CB"/>
          </a:solidFill>
          <a:ln w="12700">
            <a:solidFill>
              <a:srgbClr val="F4E7C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1553383"/>
            <a:ext cx="185075" cy="185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16736" y="144475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 — журнал событий сервера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199339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бортовой журнал у лётчиков: каждое действие, время и результат.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" y="2578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логах записывается: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2852928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запрос пришёл (GET /subscriptions)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статус вернул сервер (200, 404, 500)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миллисекунд заняла обработка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пришёл запрос (IP-адрес)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92040" y="1371600"/>
            <a:ext cx="3703320" cy="2103120"/>
          </a:xfrm>
          <a:prstGeom prst="rect">
            <a:avLst/>
          </a:prstGeom>
          <a:solidFill>
            <a:srgbClr val="141C30"/>
          </a:solidFill>
          <a:ln w="12700">
            <a:solidFill>
              <a:srgbClr val="141C30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4892040" y="1371600"/>
            <a:ext cx="3703320" cy="310896"/>
          </a:xfrm>
          <a:prstGeom prst="rect">
            <a:avLst/>
          </a:prstGeom>
          <a:solidFill>
            <a:srgbClr val="0C1222"/>
          </a:solidFill>
          <a:ln w="12700">
            <a:solidFill>
              <a:srgbClr val="0C122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5020056" y="1485900"/>
            <a:ext cx="82296" cy="82296"/>
          </a:xfrm>
          <a:prstGeom prst="ellipse">
            <a:avLst/>
          </a:prstGeom>
          <a:solidFill>
            <a:srgbClr val="E2604E"/>
          </a:solidFill>
          <a:ln w="12700">
            <a:solidFill>
              <a:srgbClr val="E260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5184648" y="1485900"/>
            <a:ext cx="82296" cy="82296"/>
          </a:xfrm>
          <a:prstGeom prst="ellipse">
            <a:avLst/>
          </a:prstGeom>
          <a:solidFill>
            <a:srgbClr val="E8B53E"/>
          </a:solidFill>
          <a:ln w="12700">
            <a:solidFill>
              <a:srgbClr val="E8B5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5349240" y="1485900"/>
            <a:ext cx="82296" cy="82296"/>
          </a:xfrm>
          <a:prstGeom prst="ellipse">
            <a:avLst/>
          </a:prstGeom>
          <a:solidFill>
            <a:srgbClr val="57B45F"/>
          </a:solidFill>
          <a:ln w="12700">
            <a:solidFill>
              <a:srgbClr val="57B4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5577840" y="137160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8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logs/app.log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093208" y="1792224"/>
            <a:ext cx="33009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E8C6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</a:t>
            </a:r>
            <a:r>
              <a:rPr lang="en-US" sz="950" dirty="0">
                <a:solidFill>
                  <a:srgbClr val="D8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            </a:t>
            </a:r>
            <a:r>
              <a:rPr lang="en-US" sz="950" dirty="0">
                <a:solidFill>
                  <a:srgbClr val="8FD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200  </a:t>
            </a:r>
            <a:r>
              <a:rPr lang="en-US" sz="950" dirty="0">
                <a:solidFill>
                  <a:srgbClr val="7C8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12ms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E8C6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</a:t>
            </a:r>
            <a:r>
              <a:rPr lang="en-US" sz="950" dirty="0">
                <a:solidFill>
                  <a:srgbClr val="D8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/subscriptions     </a:t>
            </a:r>
            <a:r>
              <a:rPr lang="en-US" sz="950" dirty="0">
                <a:solidFill>
                  <a:srgbClr val="8FD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200  </a:t>
            </a:r>
            <a:r>
              <a:rPr lang="en-US" sz="950" dirty="0">
                <a:solidFill>
                  <a:srgbClr val="7C8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47ms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E8C6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 </a:t>
            </a:r>
            <a:r>
              <a:rPr lang="en-US" sz="950" dirty="0">
                <a:solidFill>
                  <a:srgbClr val="D8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/subscriptions     </a:t>
            </a:r>
            <a:r>
              <a:rPr lang="en-US" sz="950" dirty="0">
                <a:solidFill>
                  <a:srgbClr val="8FD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201  </a:t>
            </a:r>
            <a:r>
              <a:rPr lang="en-US" sz="950" dirty="0">
                <a:solidFill>
                  <a:srgbClr val="7C8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85ms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E8C6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</a:t>
            </a:r>
            <a:r>
              <a:rPr lang="en-US" sz="950" dirty="0">
                <a:solidFill>
                  <a:srgbClr val="D8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/subscriptions/3   </a:t>
            </a:r>
            <a:r>
              <a:rPr lang="en-US" sz="950" dirty="0">
                <a:solidFill>
                  <a:srgbClr val="8FD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200  </a:t>
            </a:r>
            <a:r>
              <a:rPr lang="en-US" sz="950" dirty="0">
                <a:solidFill>
                  <a:srgbClr val="7C8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31ms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892040" y="36576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строка: метод, адрес, статус и время обработки запроса.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1E2C4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8"/>
          <p:cNvSpPr/>
          <p:nvPr/>
        </p:nvSpPr>
        <p:spPr>
          <a:xfrm>
            <a:off x="0" y="4722876"/>
            <a:ext cx="109728" cy="420624"/>
          </a:xfrm>
          <a:prstGeom prst="rect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/>
          <p:nvPr/>
        </p:nvSpPr>
        <p:spPr>
          <a:xfrm>
            <a:off x="548640" y="472287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что-то сломалось — логи покажут причину без догадок.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БЕЗОПАСНОСТЬ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C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Безопасность Backend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680960" y="329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59352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713232" y="1444752"/>
            <a:ext cx="402336" cy="402336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63" y="1553383"/>
            <a:ext cx="185075" cy="185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25296" y="1444752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3232" y="1956816"/>
            <a:ext cx="3630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Специальные заголовки в HTTP-ответе. Помогают браузеру безопаснее обрабатывать данные.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36008" y="1280160"/>
            <a:ext cx="3959352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4800600" y="1444752"/>
            <a:ext cx="402336" cy="402336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231" y="1553383"/>
            <a:ext cx="185075" cy="185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12664" y="1444752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00600" y="1956816"/>
            <a:ext cx="3630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Ограничивает, с каких адресов можно обращаться к API. Чужой сайт не сделает запрос.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2926080"/>
            <a:ext cx="3959352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2"/>
          <p:cNvSpPr/>
          <p:nvPr/>
        </p:nvSpPr>
        <p:spPr>
          <a:xfrm>
            <a:off x="713232" y="3090672"/>
            <a:ext cx="402336" cy="402336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63" y="3199303"/>
            <a:ext cx="185075" cy="1850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25296" y="3090672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13232" y="3602736"/>
            <a:ext cx="3630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более N запросов в минуту с одного IP. Защита от перегрузки и ботов.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36008" y="2926080"/>
            <a:ext cx="3959352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6"/>
          <p:cNvSpPr/>
          <p:nvPr/>
        </p:nvSpPr>
        <p:spPr>
          <a:xfrm>
            <a:off x="4800600" y="3090672"/>
            <a:ext cx="402336" cy="402336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9231" y="3199303"/>
            <a:ext cx="185075" cy="1850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12664" y="3090672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данных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800600" y="3602736"/>
            <a:ext cx="3630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проверяет каждое входящее значение. Неправильные данные отклоняются.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1E2C4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Shape 20"/>
          <p:cNvSpPr/>
          <p:nvPr/>
        </p:nvSpPr>
        <p:spPr>
          <a:xfrm>
            <a:off x="0" y="4722876"/>
            <a:ext cx="109728" cy="420624"/>
          </a:xfrm>
          <a:prstGeom prst="rect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1"/>
          <p:cNvSpPr/>
          <p:nvPr/>
        </p:nvSpPr>
        <p:spPr>
          <a:xfrm>
            <a:off x="548640" y="472287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Меры закрывают самые распространённые базовые риски эксплуатации.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ПРОИЗВОДИТЕЛЬНОСТЬ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C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Измерение скорости ответа API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680960" y="329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9776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804672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измерять скорость?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17556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 </a:t>
            </a:r>
            <a:r>
              <a:rPr lang="en-US" sz="1100" b="1" dirty="0">
                <a:solidFill>
                  <a:srgbClr val="1E2C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measure_api.py</a:t>
            </a:r>
            <a:r>
              <a:rPr lang="en-US" sz="110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066544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делает серию запросов к API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фиксирует время каждого ответа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выводит MIN / AVG / MAX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121615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1216152" cy="45720"/>
          </a:xfrm>
          <a:prstGeom prst="rect">
            <a:avLst/>
          </a:prstGeom>
          <a:solidFill>
            <a:srgbClr val="E6E9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548640" y="3675888"/>
            <a:ext cx="1216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C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35 ms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4151376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9384" y="3566160"/>
            <a:ext cx="121615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1929384" y="3566160"/>
            <a:ext cx="1216152" cy="45720"/>
          </a:xfrm>
          <a:prstGeom prst="rect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1929384" y="3675888"/>
            <a:ext cx="1216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99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39 ms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929384" y="4151376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10128" y="3566160"/>
            <a:ext cx="121615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3310128" y="3566160"/>
            <a:ext cx="1216152" cy="45720"/>
          </a:xfrm>
          <a:prstGeom prst="rect">
            <a:avLst/>
          </a:prstGeom>
          <a:solidFill>
            <a:srgbClr val="E6E9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3310128" y="3675888"/>
            <a:ext cx="1216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C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43 ms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10128" y="4151376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92040" y="1371600"/>
            <a:ext cx="3703320" cy="2788920"/>
          </a:xfrm>
          <a:prstGeom prst="rect">
            <a:avLst/>
          </a:prstGeom>
          <a:solidFill>
            <a:srgbClr val="141C30"/>
          </a:solidFill>
          <a:ln w="12700">
            <a:solidFill>
              <a:srgbClr val="141C30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4892040" y="1371600"/>
            <a:ext cx="3703320" cy="310896"/>
          </a:xfrm>
          <a:prstGeom prst="rect">
            <a:avLst/>
          </a:prstGeom>
          <a:solidFill>
            <a:srgbClr val="0C1222"/>
          </a:solidFill>
          <a:ln w="12700">
            <a:solidFill>
              <a:srgbClr val="0C122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5020056" y="1485900"/>
            <a:ext cx="82296" cy="82296"/>
          </a:xfrm>
          <a:prstGeom prst="ellipse">
            <a:avLst/>
          </a:prstGeom>
          <a:solidFill>
            <a:srgbClr val="E2604E"/>
          </a:solidFill>
          <a:ln w="12700">
            <a:solidFill>
              <a:srgbClr val="E260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5184648" y="1485900"/>
            <a:ext cx="82296" cy="82296"/>
          </a:xfrm>
          <a:prstGeom prst="ellipse">
            <a:avLst/>
          </a:prstGeom>
          <a:solidFill>
            <a:srgbClr val="E8B53E"/>
          </a:solidFill>
          <a:ln w="12700">
            <a:solidFill>
              <a:srgbClr val="E8B5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5349240" y="1485900"/>
            <a:ext cx="82296" cy="82296"/>
          </a:xfrm>
          <a:prstGeom prst="ellipse">
            <a:avLst/>
          </a:prstGeom>
          <a:solidFill>
            <a:srgbClr val="57B45F"/>
          </a:solidFill>
          <a:ln w="12700">
            <a:solidFill>
              <a:srgbClr val="57B4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5577840" y="137160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8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measure_api.py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93208" y="1792224"/>
            <a:ext cx="330098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000" dirty="0">
                <a:solidFill>
                  <a:srgbClr val="7C8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Тестирование </a:t>
            </a:r>
            <a:r>
              <a:rPr lang="en-US" sz="1000" dirty="0">
                <a:solidFill>
                  <a:srgbClr val="E8C6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/subscriptions</a:t>
            </a:r>
            <a:endParaRPr lang="en-US" sz="10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00" dirty="0">
                <a:solidFill>
                  <a:srgbClr val="D8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Запрос 1:  </a:t>
            </a:r>
            <a:r>
              <a:rPr lang="en-US" sz="1000" dirty="0">
                <a:solidFill>
                  <a:srgbClr val="8FD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ms</a:t>
            </a:r>
            <a:endParaRPr lang="en-US" sz="10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00" dirty="0">
                <a:solidFill>
                  <a:srgbClr val="D8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Запрос 2:  </a:t>
            </a:r>
            <a:r>
              <a:rPr lang="en-US" sz="1000" dirty="0">
                <a:solidFill>
                  <a:srgbClr val="8FD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ms</a:t>
            </a:r>
            <a:endParaRPr lang="en-US" sz="10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00" dirty="0">
                <a:solidFill>
                  <a:srgbClr val="D8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Запрос 3:  </a:t>
            </a:r>
            <a:r>
              <a:rPr lang="en-US" sz="1000" dirty="0">
                <a:solidFill>
                  <a:srgbClr val="8FD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ms</a:t>
            </a:r>
            <a:endParaRPr lang="en-US" sz="10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00" dirty="0">
                <a:solidFill>
                  <a:srgbClr val="D8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Запрос 4:  </a:t>
            </a:r>
            <a:r>
              <a:rPr lang="en-US" sz="1000" dirty="0">
                <a:solidFill>
                  <a:srgbClr val="8FD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ms</a:t>
            </a:r>
            <a:endParaRPr lang="en-US" sz="10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00" dirty="0">
                <a:solidFill>
                  <a:srgbClr val="D8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Запрос 5:  </a:t>
            </a:r>
            <a:r>
              <a:rPr lang="en-US" sz="1000" dirty="0">
                <a:solidFill>
                  <a:srgbClr val="8FD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ms</a:t>
            </a:r>
            <a:endParaRPr lang="en-US" sz="1000" dirty="0"/>
          </a:p>
          <a:p>
            <a:pPr marL="0" indent="0">
              <a:lnSpc>
                <a:spcPts val="1550"/>
              </a:lnSpc>
              <a:buNone/>
            </a:pPr>
            <a:endParaRPr lang="en-US" sz="10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E8C6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35 ms · AVG 39 ms · MAX 43 ms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1E2C4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Shape 27"/>
          <p:cNvSpPr/>
          <p:nvPr/>
        </p:nvSpPr>
        <p:spPr>
          <a:xfrm>
            <a:off x="0" y="4722876"/>
            <a:ext cx="109728" cy="420624"/>
          </a:xfrm>
          <a:prstGeom prst="rect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548640" y="472287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время ответа API — около 39 мс: быстро и стабильно.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ДАННЫЕ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C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Резервное копирование базы данных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680960" y="329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97764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82296" cy="1481328"/>
          </a:xfrm>
          <a:prstGeom prst="rect">
            <a:avLst/>
          </a:prstGeom>
          <a:solidFill>
            <a:srgbClr val="B5503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B5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16459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 хранит подписки пользователя. Если база повредится — данные можно потерять навсегда.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397764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82296" cy="1481328"/>
          </a:xfrm>
          <a:prstGeom prst="rect">
            <a:avLst/>
          </a:prstGeom>
          <a:solidFill>
            <a:srgbClr val="3F7A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41248" y="30175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1248" y="32918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 скрипт </a:t>
            </a:r>
            <a:r>
              <a:rPr lang="en-US" sz="1150" b="1" dirty="0">
                <a:solidFill>
                  <a:srgbClr val="1E2C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backup_db.py</a:t>
            </a:r>
            <a:r>
              <a:rPr lang="en-US" sz="11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создаёт копию базы в папке backups/ с меткой даты и времени.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92040" y="1371600"/>
            <a:ext cx="3703320" cy="2788920"/>
          </a:xfrm>
          <a:prstGeom prst="rect">
            <a:avLst/>
          </a:prstGeom>
          <a:solidFill>
            <a:srgbClr val="141C30"/>
          </a:solidFill>
          <a:ln w="12700">
            <a:solidFill>
              <a:srgbClr val="141C30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4892040" y="1371600"/>
            <a:ext cx="3703320" cy="310896"/>
          </a:xfrm>
          <a:prstGeom prst="rect">
            <a:avLst/>
          </a:prstGeom>
          <a:solidFill>
            <a:srgbClr val="0C1222"/>
          </a:solidFill>
          <a:ln w="12700">
            <a:solidFill>
              <a:srgbClr val="0C122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5020056" y="1485900"/>
            <a:ext cx="82296" cy="82296"/>
          </a:xfrm>
          <a:prstGeom prst="ellipse">
            <a:avLst/>
          </a:prstGeom>
          <a:solidFill>
            <a:srgbClr val="E2604E"/>
          </a:solidFill>
          <a:ln w="12700">
            <a:solidFill>
              <a:srgbClr val="E260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5184648" y="1485900"/>
            <a:ext cx="82296" cy="82296"/>
          </a:xfrm>
          <a:prstGeom prst="ellipse">
            <a:avLst/>
          </a:prstGeom>
          <a:solidFill>
            <a:srgbClr val="E8B53E"/>
          </a:solidFill>
          <a:ln w="12700">
            <a:solidFill>
              <a:srgbClr val="E8B5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5349240" y="1485900"/>
            <a:ext cx="82296" cy="82296"/>
          </a:xfrm>
          <a:prstGeom prst="ellipse">
            <a:avLst/>
          </a:prstGeom>
          <a:solidFill>
            <a:srgbClr val="57B45F"/>
          </a:solidFill>
          <a:ln w="12700">
            <a:solidFill>
              <a:srgbClr val="57B4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5577840" y="137160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8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backup_db.py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93208" y="1792224"/>
            <a:ext cx="330098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7C8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Создание резервной копии...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7C8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Источник: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E8C6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subscriptions.db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7C8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Копия сохранена: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D8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backups/subscriptions_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D8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2026-05-28_10-14-22.db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b="1" dirty="0">
                <a:solidFill>
                  <a:srgbClr val="8FD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Backup успешно создан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1E2C4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0" y="4722876"/>
            <a:ext cx="109728" cy="420624"/>
          </a:xfrm>
          <a:prstGeom prst="rect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548640" y="472287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можно восстановить, если что-то пойдёт не так.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ВЫПОЛНЕННЫЕ РАБОТЫ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C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Android-приложение — что сделано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680960" y="329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59689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713232" y="1444752"/>
            <a:ext cx="402336" cy="402336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63" y="1553383"/>
            <a:ext cx="185075" cy="185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25296" y="144475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/health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3232" y="1956816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 доступность backend перед запросами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73552" y="1280160"/>
            <a:ext cx="259689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3438144" y="1444752"/>
            <a:ext cx="402336" cy="402336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775" y="1553383"/>
            <a:ext cx="185075" cy="185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50208" y="144475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Сетевые таймауты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38144" y="1956816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Установлены ограничения времени ожидания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998464" y="1280160"/>
            <a:ext cx="259689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2"/>
          <p:cNvSpPr/>
          <p:nvPr/>
        </p:nvSpPr>
        <p:spPr>
          <a:xfrm>
            <a:off x="6163056" y="1444752"/>
            <a:ext cx="402336" cy="402336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1687" y="1553383"/>
            <a:ext cx="185075" cy="1850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144475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 логов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63056" y="1956816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release-сборке лишние логи отключены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2862072"/>
            <a:ext cx="259689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6"/>
          <p:cNvSpPr/>
          <p:nvPr/>
        </p:nvSpPr>
        <p:spPr>
          <a:xfrm>
            <a:off x="713232" y="3026664"/>
            <a:ext cx="402336" cy="402336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863" y="3135295"/>
            <a:ext cx="185075" cy="1850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25296" y="302666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13232" y="353872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разрешён только для локальных адресов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73552" y="2862072"/>
            <a:ext cx="259689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6" name="Shape 20"/>
          <p:cNvSpPr/>
          <p:nvPr/>
        </p:nvSpPr>
        <p:spPr>
          <a:xfrm>
            <a:off x="3438144" y="3026664"/>
            <a:ext cx="402336" cy="402336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6775" y="3135295"/>
            <a:ext cx="185075" cy="18507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50208" y="302666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базы Room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438144" y="353872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Настроены правила резервного копирования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998464" y="2862072"/>
            <a:ext cx="259689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4"/>
          <p:cNvSpPr/>
          <p:nvPr/>
        </p:nvSpPr>
        <p:spPr>
          <a:xfrm>
            <a:off x="6163056" y="3026664"/>
            <a:ext cx="402336" cy="402336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1687" y="3135295"/>
            <a:ext cx="185075" cy="18507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75120" y="302666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Gradle-сборка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163056" y="353872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Проверена успешная сборка после изменений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1E2C4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Shape 28"/>
          <p:cNvSpPr/>
          <p:nvPr/>
        </p:nvSpPr>
        <p:spPr>
          <a:xfrm>
            <a:off x="0" y="4722876"/>
            <a:ext cx="109728" cy="420624"/>
          </a:xfrm>
          <a:prstGeom prst="rect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29"/>
          <p:cNvSpPr/>
          <p:nvPr/>
        </p:nvSpPr>
        <p:spPr>
          <a:xfrm>
            <a:off x="548640" y="472287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Android-клиент стал надёжнее и безопаснее при работе с backend.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БЕЗОПАСНОСТЬ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C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Сетевая безопасность приложения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680960" y="329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7490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749040" cy="420624"/>
          </a:xfrm>
          <a:prstGeom prst="rect">
            <a:avLst/>
          </a:prstGeom>
          <a:solidFill>
            <a:srgbClr val="B5503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ИЗМЕНЕНИЙ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181051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разрешён ко всем адресам. Опасно: незащищённое подключение к любому внешнему серверу.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697480"/>
            <a:ext cx="3291840" cy="658368"/>
          </a:xfrm>
          <a:prstGeom prst="rect">
            <a:avLst/>
          </a:prstGeom>
          <a:solidFill>
            <a:srgbClr val="141C3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cleartextTrafficPermitted=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E26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"true"</a:t>
            </a:r>
            <a:r>
              <a:rPr lang="en-US" sz="950" dirty="0">
                <a:solidFill>
                  <a:srgbClr val="7C8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&lt;- разрешено всем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5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хост мог получить незащищённый HTTP-запрос.</a:t>
            </a:r>
            <a:endParaRPr lang="en-US" sz="10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2697480"/>
            <a:ext cx="274320" cy="2743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846320" y="1234440"/>
            <a:ext cx="37490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4846320" y="1234440"/>
            <a:ext cx="3749040" cy="420624"/>
          </a:xfrm>
          <a:prstGeom prst="rect">
            <a:avLst/>
          </a:prstGeom>
          <a:solidFill>
            <a:srgbClr val="3F7A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5074920" y="123444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ИЗМЕНЕНИЙ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74920" y="181051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разрешён только для локальных адресов. Все внешние соединения — только HTTPS.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74920" y="2697480"/>
            <a:ext cx="1024128" cy="365760"/>
          </a:xfrm>
          <a:prstGeom prst="rect">
            <a:avLst/>
          </a:prstGeom>
          <a:solidFill>
            <a:srgbClr val="E5F0E7"/>
          </a:solidFill>
          <a:ln w="9525">
            <a:solidFill>
              <a:srgbClr val="3F7A5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5074920" y="269748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10.0.2.2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208776" y="2697480"/>
            <a:ext cx="1024128" cy="365760"/>
          </a:xfrm>
          <a:prstGeom prst="rect">
            <a:avLst/>
          </a:prstGeom>
          <a:solidFill>
            <a:srgbClr val="E5F0E7"/>
          </a:solidFill>
          <a:ln w="9525">
            <a:solidFill>
              <a:srgbClr val="3F7A5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7"/>
          <p:cNvSpPr/>
          <p:nvPr/>
        </p:nvSpPr>
        <p:spPr>
          <a:xfrm>
            <a:off x="6208776" y="269748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42632" y="2697480"/>
            <a:ext cx="1024128" cy="365760"/>
          </a:xfrm>
          <a:prstGeom prst="rect">
            <a:avLst/>
          </a:prstGeom>
          <a:solidFill>
            <a:srgbClr val="E5F0E7"/>
          </a:solidFill>
          <a:ln w="9525">
            <a:solidFill>
              <a:srgbClr val="3F7A5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/>
          <p:nvPr/>
        </p:nvSpPr>
        <p:spPr>
          <a:xfrm>
            <a:off x="7342632" y="269748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074920" y="3520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нужные адреса — в «белом списке».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1E2C4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Shape 22"/>
          <p:cNvSpPr/>
          <p:nvPr/>
        </p:nvSpPr>
        <p:spPr>
          <a:xfrm>
            <a:off x="0" y="4722876"/>
            <a:ext cx="109728" cy="420624"/>
          </a:xfrm>
          <a:prstGeom prst="rect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3"/>
          <p:cNvSpPr/>
          <p:nvPr/>
        </p:nvSpPr>
        <p:spPr>
          <a:xfrm>
            <a:off x="548640" y="472287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Незащищённый HTTP-трафик закрыт: связь Android — Backend под контролем.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СБОРКА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C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Проверка сборки приложения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680960" y="329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9776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804672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проверять сборку?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175564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— инструмент сборки Android-приложения: компилирует код и создаёт APK.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3774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каждого изменения нужно убедиться, что сборка прошла без ошибок. Успешная сборка -&gt; приложение готово к установке.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920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C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463040" y="361188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выполнено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3520440"/>
            <a:ext cx="1920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2788920" y="3611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F7A5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520440" y="361188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ошибок сборки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1371600"/>
            <a:ext cx="3703320" cy="3108960"/>
          </a:xfrm>
          <a:prstGeom prst="rect">
            <a:avLst/>
          </a:prstGeom>
          <a:solidFill>
            <a:srgbClr val="141C30"/>
          </a:solidFill>
          <a:ln w="12700">
            <a:solidFill>
              <a:srgbClr val="141C30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4892040" y="1371600"/>
            <a:ext cx="3703320" cy="310896"/>
          </a:xfrm>
          <a:prstGeom prst="rect">
            <a:avLst/>
          </a:prstGeom>
          <a:solidFill>
            <a:srgbClr val="0C1222"/>
          </a:solidFill>
          <a:ln w="12700">
            <a:solidFill>
              <a:srgbClr val="0C122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5020056" y="1485900"/>
            <a:ext cx="82296" cy="82296"/>
          </a:xfrm>
          <a:prstGeom prst="ellipse">
            <a:avLst/>
          </a:prstGeom>
          <a:solidFill>
            <a:srgbClr val="E2604E"/>
          </a:solidFill>
          <a:ln w="12700">
            <a:solidFill>
              <a:srgbClr val="E260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5184648" y="1485900"/>
            <a:ext cx="82296" cy="82296"/>
          </a:xfrm>
          <a:prstGeom prst="ellipse">
            <a:avLst/>
          </a:prstGeom>
          <a:solidFill>
            <a:srgbClr val="E8B53E"/>
          </a:solidFill>
          <a:ln w="12700">
            <a:solidFill>
              <a:srgbClr val="E8B5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5349240" y="1485900"/>
            <a:ext cx="82296" cy="82296"/>
          </a:xfrm>
          <a:prstGeom prst="ellipse">
            <a:avLst/>
          </a:prstGeom>
          <a:solidFill>
            <a:srgbClr val="57B45F"/>
          </a:solidFill>
          <a:ln w="12700">
            <a:solidFill>
              <a:srgbClr val="57B4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577840" y="137160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8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./gradlew assembleDebug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93208" y="1792224"/>
            <a:ext cx="33009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7C8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Starting Gradle Daemon...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7C8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Configure project :app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D8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Task :app:preBuild </a:t>
            </a:r>
            <a:r>
              <a:rPr lang="en-US" sz="950" dirty="0">
                <a:solidFill>
                  <a:srgbClr val="E8C6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UP-TO-DATE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D8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Task :app:compileDebugKotlin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D8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Task :app:mergeDebugResources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D8D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Task :app:assembleDebug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dirty="0">
                <a:solidFill>
                  <a:srgbClr val="7C8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actionable tasks: 43 executed</a:t>
            </a:r>
            <a:endParaRPr lang="en-US" sz="950" dirty="0"/>
          </a:p>
          <a:p>
            <a:pPr marL="0" indent="0">
              <a:lnSpc>
                <a:spcPts val="1473"/>
              </a:lnSpc>
              <a:buNone/>
            </a:pPr>
            <a:r>
              <a:rPr lang="en-US" sz="950" b="1" dirty="0">
                <a:solidFill>
                  <a:srgbClr val="8FD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SUCCESSFUL in 1m 24s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1E2C4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0" y="4722876"/>
            <a:ext cx="109728" cy="420624"/>
          </a:xfrm>
          <a:prstGeom prst="rect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48640" y="472287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 подтверждает: все изменения внесены корректно, приложение работает.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C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Какие риски были снижены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680960" y="329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/ 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B5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ЭКСПЛУАТАЦИИ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846320" y="11155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БЫЛО СДЕЛАНО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44752"/>
            <a:ext cx="3749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63624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4447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недоступен, никто не знает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1563624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46320" y="1444752"/>
            <a:ext cx="3749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1563624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21808" y="14447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— проверка состояния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48640" y="1979676"/>
            <a:ext cx="3749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098548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24128" y="197967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Трудно найти причину ошибки</a:t>
            </a:r>
            <a:endParaRPr lang="en-US" sz="10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2098548"/>
            <a:ext cx="219456" cy="219456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846320" y="1979676"/>
            <a:ext cx="3749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2098548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21808" y="197967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Логирование — журнал событий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548640" y="2514600"/>
            <a:ext cx="3749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633472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024128" y="25146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перегружают запросами</a:t>
            </a:r>
            <a:endParaRPr lang="en-US" sz="10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2633472"/>
            <a:ext cx="219456" cy="219456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4846320" y="2514600"/>
            <a:ext cx="3749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2633472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321808" y="25146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— ограничение запросов</a:t>
            </a:r>
            <a:endParaRPr lang="en-US" sz="1050" dirty="0"/>
          </a:p>
        </p:txBody>
      </p:sp>
      <p:sp>
        <p:nvSpPr>
          <p:cNvPr id="28" name="Shape 17"/>
          <p:cNvSpPr/>
          <p:nvPr/>
        </p:nvSpPr>
        <p:spPr>
          <a:xfrm>
            <a:off x="548640" y="3049524"/>
            <a:ext cx="3749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168396"/>
            <a:ext cx="201168" cy="20116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024128" y="304952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пользователей потеряются</a:t>
            </a:r>
            <a:endParaRPr lang="en-US" sz="105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3168396"/>
            <a:ext cx="219456" cy="219456"/>
          </a:xfrm>
          <a:prstGeom prst="rect">
            <a:avLst/>
          </a:prstGeom>
        </p:spPr>
      </p:pic>
      <p:sp>
        <p:nvSpPr>
          <p:cNvPr id="32" name="Shape 19"/>
          <p:cNvSpPr/>
          <p:nvPr/>
        </p:nvSpPr>
        <p:spPr>
          <a:xfrm>
            <a:off x="4846320" y="3049524"/>
            <a:ext cx="3749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3168396"/>
            <a:ext cx="201168" cy="201168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321808" y="304952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резервные копии</a:t>
            </a:r>
            <a:endParaRPr lang="en-US" sz="1050" dirty="0"/>
          </a:p>
        </p:txBody>
      </p:sp>
      <p:sp>
        <p:nvSpPr>
          <p:cNvPr id="35" name="Shape 21"/>
          <p:cNvSpPr/>
          <p:nvPr/>
        </p:nvSpPr>
        <p:spPr>
          <a:xfrm>
            <a:off x="548640" y="3584448"/>
            <a:ext cx="3749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703320"/>
            <a:ext cx="201168" cy="201168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1024128" y="358444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небезопасно подключается</a:t>
            </a:r>
            <a:endParaRPr lang="en-US" sz="1050" dirty="0"/>
          </a:p>
        </p:txBody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3703320"/>
            <a:ext cx="219456" cy="219456"/>
          </a:xfrm>
          <a:prstGeom prst="rect">
            <a:avLst/>
          </a:prstGeom>
        </p:spPr>
      </p:pic>
      <p:sp>
        <p:nvSpPr>
          <p:cNvPr id="39" name="Shape 23"/>
          <p:cNvSpPr/>
          <p:nvPr/>
        </p:nvSpPr>
        <p:spPr>
          <a:xfrm>
            <a:off x="4846320" y="3584448"/>
            <a:ext cx="3749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3703320"/>
            <a:ext cx="201168" cy="201168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5321808" y="358444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Config</a:t>
            </a:r>
            <a:endParaRPr lang="en-US" sz="1050" dirty="0"/>
          </a:p>
        </p:txBody>
      </p:sp>
      <p:sp>
        <p:nvSpPr>
          <p:cNvPr id="42" name="Shape 25"/>
          <p:cNvSpPr/>
          <p:nvPr/>
        </p:nvSpPr>
        <p:spPr>
          <a:xfrm>
            <a:off x="548640" y="4119372"/>
            <a:ext cx="3749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238244"/>
            <a:ext cx="201168" cy="201168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1024128" y="411937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Изменения могут сломать проект</a:t>
            </a:r>
            <a:endParaRPr lang="en-US" sz="1050" dirty="0"/>
          </a:p>
        </p:txBody>
      </p:sp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4238244"/>
            <a:ext cx="219456" cy="219456"/>
          </a:xfrm>
          <a:prstGeom prst="rect">
            <a:avLst/>
          </a:prstGeom>
        </p:spPr>
      </p:pic>
      <p:sp>
        <p:nvSpPr>
          <p:cNvPr id="46" name="Shape 27"/>
          <p:cNvSpPr/>
          <p:nvPr/>
        </p:nvSpPr>
        <p:spPr>
          <a:xfrm>
            <a:off x="4846320" y="4119372"/>
            <a:ext cx="3749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47" name="Image 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4238244"/>
            <a:ext cx="201168" cy="201168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5321808" y="411937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Gradle-сборка подтверждает работу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C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Итог выполненной работы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680960" y="329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/ 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9593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713232" y="1481328"/>
            <a:ext cx="347472" cy="347472"/>
          </a:xfrm>
          <a:prstGeom prst="ellipse">
            <a:avLst/>
          </a:prstGeom>
          <a:solidFill>
            <a:srgbClr val="E5F0E7"/>
          </a:solidFill>
          <a:ln w="12700">
            <a:solidFill>
              <a:srgbClr val="E5F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49" y="1575145"/>
            <a:ext cx="159837" cy="1598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3258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запускается и работает стабильно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36008" y="1325880"/>
            <a:ext cx="39593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4800600" y="1481328"/>
            <a:ext cx="347472" cy="347472"/>
          </a:xfrm>
          <a:prstGeom prst="ellipse">
            <a:avLst/>
          </a:prstGeom>
          <a:solidFill>
            <a:srgbClr val="E5F0E7"/>
          </a:solidFill>
          <a:ln w="12700">
            <a:solidFill>
              <a:srgbClr val="E5F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417" y="1575145"/>
            <a:ext cx="159837" cy="1598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76088" y="13258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 сервера проверяется мгновенно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2130552"/>
            <a:ext cx="39593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0"/>
          <p:cNvSpPr/>
          <p:nvPr/>
        </p:nvSpPr>
        <p:spPr>
          <a:xfrm>
            <a:off x="713232" y="2286000"/>
            <a:ext cx="347472" cy="347472"/>
          </a:xfrm>
          <a:prstGeom prst="ellipse">
            <a:avLst/>
          </a:prstGeom>
          <a:solidFill>
            <a:srgbClr val="E5F0E7"/>
          </a:solidFill>
          <a:ln w="12700">
            <a:solidFill>
              <a:srgbClr val="E5F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49" y="2379817"/>
            <a:ext cx="159837" cy="1598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213055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события записываются в лог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636008" y="2130552"/>
            <a:ext cx="39593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3"/>
          <p:cNvSpPr/>
          <p:nvPr/>
        </p:nvSpPr>
        <p:spPr>
          <a:xfrm>
            <a:off x="4800600" y="2286000"/>
            <a:ext cx="347472" cy="347472"/>
          </a:xfrm>
          <a:prstGeom prst="ellipse">
            <a:avLst/>
          </a:prstGeom>
          <a:solidFill>
            <a:srgbClr val="E5F0E7"/>
          </a:solidFill>
          <a:ln w="12700">
            <a:solidFill>
              <a:srgbClr val="E5F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417" y="2379817"/>
            <a:ext cx="159837" cy="15983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76088" y="213055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ответа API — ~39 мс, стабильно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2935224"/>
            <a:ext cx="39593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Shape 16"/>
          <p:cNvSpPr/>
          <p:nvPr/>
        </p:nvSpPr>
        <p:spPr>
          <a:xfrm>
            <a:off x="713232" y="3090672"/>
            <a:ext cx="347472" cy="347472"/>
          </a:xfrm>
          <a:prstGeom prst="ellipse">
            <a:avLst/>
          </a:prstGeom>
          <a:solidFill>
            <a:srgbClr val="E5F0E7"/>
          </a:solidFill>
          <a:ln w="12700">
            <a:solidFill>
              <a:srgbClr val="E5F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49" y="3184489"/>
            <a:ext cx="159837" cy="15983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88720" y="293522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защищены резервными копиями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4636008" y="2935224"/>
            <a:ext cx="395935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6" name="Shape 19"/>
          <p:cNvSpPr/>
          <p:nvPr/>
        </p:nvSpPr>
        <p:spPr>
          <a:xfrm>
            <a:off x="4800600" y="3090672"/>
            <a:ext cx="347472" cy="347472"/>
          </a:xfrm>
          <a:prstGeom prst="ellipse">
            <a:avLst/>
          </a:prstGeom>
          <a:solidFill>
            <a:srgbClr val="E5F0E7"/>
          </a:solidFill>
          <a:ln w="12700">
            <a:solidFill>
              <a:srgbClr val="E5F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417" y="3184489"/>
            <a:ext cx="159837" cy="15983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276088" y="293522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Android-приложение собирается успешно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548640" y="3822192"/>
            <a:ext cx="8046720" cy="713232"/>
          </a:xfrm>
          <a:prstGeom prst="rect">
            <a:avLst/>
          </a:prstGeom>
          <a:solidFill>
            <a:srgbClr val="1E2C4C"/>
          </a:solidFill>
          <a:ln/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0" name="Shape 22"/>
          <p:cNvSpPr/>
          <p:nvPr/>
        </p:nvSpPr>
        <p:spPr>
          <a:xfrm>
            <a:off x="548640" y="3822192"/>
            <a:ext cx="91440" cy="713232"/>
          </a:xfrm>
          <a:prstGeom prst="rect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Shape 23"/>
          <p:cNvSpPr/>
          <p:nvPr/>
        </p:nvSpPr>
        <p:spPr>
          <a:xfrm>
            <a:off x="868680" y="3986784"/>
            <a:ext cx="384048" cy="384048"/>
          </a:xfrm>
          <a:prstGeom prst="ellipse">
            <a:avLst/>
          </a:prstGeom>
          <a:solidFill>
            <a:srgbClr val="101729"/>
          </a:solidFill>
          <a:ln w="12700">
            <a:solidFill>
              <a:srgbClr val="10172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373" y="4090477"/>
            <a:ext cx="176662" cy="17666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417320" y="3822192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риски эксплуатации снижены — системой можно пользоваться уверенно.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C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Практическая польза работы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680960" y="329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/ 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 проект можно не только показать как разработку — его можно реально сопровождать: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596896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713232" y="1673352"/>
            <a:ext cx="402336" cy="402336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63" y="1781983"/>
            <a:ext cx="185075" cy="185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25296" y="1636776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Быстрее находить ошибки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13232" y="2221992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 указывают на проблему без догадок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73552" y="1508760"/>
            <a:ext cx="2596896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3438144" y="1673352"/>
            <a:ext cx="402336" cy="402336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775" y="1781983"/>
            <a:ext cx="185075" cy="1850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50208" y="1636776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Контролировать сервер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438144" y="2221992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и логи показывают состояние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98464" y="1508760"/>
            <a:ext cx="2596896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3"/>
          <p:cNvSpPr/>
          <p:nvPr/>
        </p:nvSpPr>
        <p:spPr>
          <a:xfrm>
            <a:off x="6163056" y="1673352"/>
            <a:ext cx="402336" cy="402336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1687" y="1781983"/>
            <a:ext cx="185075" cy="1850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1636776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 подключать клиент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163056" y="2221992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защищает Android — Backend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1911096" y="2990088"/>
            <a:ext cx="2596896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Shape 17"/>
          <p:cNvSpPr/>
          <p:nvPr/>
        </p:nvSpPr>
        <p:spPr>
          <a:xfrm>
            <a:off x="2075688" y="3154680"/>
            <a:ext cx="402336" cy="402336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4319" y="3263311"/>
            <a:ext cx="185075" cy="18507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587752" y="3118104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Сохранять данные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2075688" y="370332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Резервные копии защищают от потери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636008" y="2990088"/>
            <a:ext cx="2596896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2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7" name="Shape 21"/>
          <p:cNvSpPr/>
          <p:nvPr/>
        </p:nvSpPr>
        <p:spPr>
          <a:xfrm>
            <a:off x="4800600" y="3154680"/>
            <a:ext cx="402336" cy="402336"/>
          </a:xfrm>
          <a:prstGeom prst="ellipse">
            <a:avLst/>
          </a:prstGeom>
          <a:solidFill>
            <a:srgbClr val="1E2C4C"/>
          </a:solidFill>
          <a:ln w="12700">
            <a:solidFill>
              <a:srgbClr val="1E2C4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9231" y="3263311"/>
            <a:ext cx="185075" cy="18507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12664" y="3118104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Проверять перед демо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4800600" y="370332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Gradle-сборка подтверждает работу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822960" cy="822960"/>
          </a:xfrm>
          <a:prstGeom prst="ellipse">
            <a:avLst/>
          </a:prstGeom>
          <a:solidFill>
            <a:srgbClr val="19233C"/>
          </a:solidFill>
          <a:ln w="12700">
            <a:solidFill>
              <a:srgbClr val="1923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1136599"/>
            <a:ext cx="378562" cy="3785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9659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Цель достигнута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2651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9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SubscriptionManager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977640"/>
            <a:ext cx="3291840" cy="0"/>
          </a:xfrm>
          <a:prstGeom prst="line">
            <a:avLst/>
          </a:prstGeom>
          <a:noFill/>
          <a:ln w="12700">
            <a:solidFill>
              <a:srgbClr val="2A375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640080" y="4114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Салимгараев Амир Ильдарович  ·  9/3-РПО-23/1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" y="4389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Дубель Александр Андреевич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120640" y="685800"/>
            <a:ext cx="3474720" cy="3886200"/>
          </a:xfrm>
          <a:prstGeom prst="rect">
            <a:avLst/>
          </a:prstGeom>
          <a:solidFill>
            <a:srgbClr val="19233C"/>
          </a:solidFill>
          <a:ln w="9525">
            <a:solidFill>
              <a:srgbClr val="2A3756"/>
            </a:solidFill>
            <a:prstDash val="solid"/>
          </a:ln>
          <a:effectLst>
            <a:outerShdw blurRad="635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5120640" y="685800"/>
            <a:ext cx="3474720" cy="45720"/>
          </a:xfrm>
          <a:prstGeom prst="rect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5394960" y="868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БЫЛО СДЕЛАНО</a:t>
            </a:r>
            <a:endParaRPr lang="en-US" sz="9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335024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69280" y="12801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— проверка состояния</a:t>
            </a:r>
            <a:endParaRPr lang="en-US" sz="10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792224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69280" y="17373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Логирование запросов</a:t>
            </a:r>
            <a:endParaRPr lang="en-US" sz="10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249424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69280" y="21945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 + CORS + Rate Limiting</a:t>
            </a:r>
            <a:endParaRPr lang="en-US" sz="10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706624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669280" y="26517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Замер скорости API (avg 39 мс)</a:t>
            </a:r>
            <a:endParaRPr lang="en-US" sz="10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163824"/>
            <a:ext cx="164592" cy="16459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669280" y="31089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Резервное копирование базы данных</a:t>
            </a:r>
            <a:endParaRPr lang="en-US" sz="10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621024"/>
            <a:ext cx="164592" cy="16459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669280" y="35661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Config (Android)</a:t>
            </a:r>
            <a:endParaRPr lang="en-US" sz="10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4078224"/>
            <a:ext cx="164592" cy="16459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669280" y="40233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Gradle-сборка без ошибок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1342</Words>
  <Application>Microsoft Office PowerPoint</Application>
  <PresentationFormat>Экран (16:9)</PresentationFormat>
  <Paragraphs>317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Сопровождение и обслуживание ПО — SubscriptionManager</dc:title>
  <dc:subject>PptxGenJS Presentation</dc:subject>
  <dc:creator>Салимгараев Амир</dc:creator>
  <cp:lastModifiedBy>Office</cp:lastModifiedBy>
  <cp:revision>2</cp:revision>
  <dcterms:created xsi:type="dcterms:W3CDTF">2026-06-11T13:27:05Z</dcterms:created>
  <dcterms:modified xsi:type="dcterms:W3CDTF">2026-06-24T19:37:27Z</dcterms:modified>
</cp:coreProperties>
</file>