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278" r:id="rId5"/>
    <p:sldId id="279" r:id="rId6"/>
    <p:sldId id="280" r:id="rId7"/>
    <p:sldId id="281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7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864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SubscriptionManager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563EB"/>
                </a:solidFill>
              </a:rPr>
              <a:t>Backend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9525">
            <a:solidFill>
              <a:srgbClr val="3B4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Отчёт о прохождении учебной практики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ПМ.02  ·  Салимгараев А.И.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18488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618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УЧЕБНАЯ ПРАКТИКА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Общая информация о практике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Студент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298448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Салимгараев Амир Ильдарович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229600" cy="4297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Группа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77393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9/3-РПО-23/1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94360" y="2249424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Колледж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249424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ММКЦТ «Академия ТОП», г. Набережные Челны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8229600" cy="4297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94360" y="272491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Период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724912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27.04.2026 — 06.05.2026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Руководитель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200400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Дубель Александр Андреевич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8229600" cy="4297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94360" y="3675888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Модуль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675888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ПМ.02 «Осуществление интеграции программных модулей»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51376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94360" y="415137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Специальность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15137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09.02.07 Информационные системы и программирование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57884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3578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ЦЕЛИ И ЗАДАЧИ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Что нужно было сделать?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886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Цели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Научиться разрабатывать программные модули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Создать серверный REST API — интерфейс для общения приложения с сервером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821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22960" y="31181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Проверить качество кода: тесты и отладка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Упаковать в Docker — чтобы запускалось на любом компьютере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298448"/>
            <a:ext cx="3886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983480" y="1417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Задачи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19385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166360" y="1874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Проанализировать требования и спроектировать API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25603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166360" y="24963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Настроить рабочую среду разработки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31821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166360" y="31181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Реализовать CRUD — создание, просмотр, изменение, удаление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380390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166360" y="373989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Тестировать, проверить стиль кода, упаковать в контейнер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442569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166360" y="436168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Оформить документацию и защитить практику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 приложения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E0E5E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AppScreen">
            <a:extLst>
              <a:ext uri="{FF2B5EF4-FFF2-40B4-BE49-F238E27FC236}">
                <a16:creationId xmlns:a16="http://schemas.microsoft.com/office/drawing/2014/main" id="{1286562E-C8EA-FBF4-9D99-9158130D975A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990600"/>
            <a:ext cx="178308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5717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Добавление новой подписки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E0E5E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AppScreen">
            <a:extLst>
              <a:ext uri="{FF2B5EF4-FFF2-40B4-BE49-F238E27FC236}">
                <a16:creationId xmlns:a16="http://schemas.microsoft.com/office/drawing/2014/main" id="{80E0E29F-1ADF-3AA9-CF37-B7828F3B4A5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990600"/>
            <a:ext cx="178308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91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категории подписки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E0E5E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AppScreen">
            <a:extLst>
              <a:ext uri="{FF2B5EF4-FFF2-40B4-BE49-F238E27FC236}">
                <a16:creationId xmlns:a16="http://schemas.microsoft.com/office/drawing/2014/main" id="{A13E2CFC-45BB-EC4E-9B13-969162C0F35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990600"/>
            <a:ext cx="178308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59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457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64008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ru-RU" sz="2200" b="1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Подтверждение оплаты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95528"/>
            <a:ext cx="8229600" cy="13716"/>
          </a:xfrm>
          <a:prstGeom prst="rect">
            <a:avLst/>
          </a:prstGeom>
          <a:solidFill>
            <a:srgbClr val="E0E5ED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AppScreen">
            <a:extLst>
              <a:ext uri="{FF2B5EF4-FFF2-40B4-BE49-F238E27FC236}">
                <a16:creationId xmlns:a16="http://schemas.microsoft.com/office/drawing/2014/main" id="{0D144B25-775F-D728-78CE-4D918155D76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680460" y="990600"/>
            <a:ext cx="178308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16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ТЕХНОЛОГИИ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Что использовалось при разработке?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21792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Python 3.10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682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Язык программирования. Простой и популярный — весь сервер написан на нём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18888" y="1298448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4983480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FastAPI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83480" y="168249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Готовый инструмент для создания API. Сам делает документацию, где можно тестировать запросы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21792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SQLAlchemy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26151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Позволяет работать с базой данных через обычный Python-код — без написания SQL вручную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18888" y="2231136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4983480" y="23225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Pydantic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261518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Проверяет правильность данных. Например: цена — число, а не текст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163824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21792" y="3255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Pytest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3547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Инструмент для тестов. Запускаешь — сам проверяет, всё ли работает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18888" y="3163824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4983480" y="32552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Ruff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54787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Как проверка орфографии — но для кода. Находит ошибки стиля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096512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621792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Docker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4480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Упаковывает приложение в «коробку». Запускается одинаково на любом компьютере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18888" y="4096512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4983480" y="41879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GitHub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83480" y="4480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Облако для хранения кода. Сохраняет всю историю изменений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4148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1841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АРХИТЕКТУРА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Трёхуровневая архитектура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Код разделён на три чётких слоя — каждый отвечает за своё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73152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85800" y="2002536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4300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Уровень представления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43000" y="2148840"/>
            <a:ext cx="804672" cy="2286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1143000" y="21488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FastAPI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18288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Принимает запросы от клиента (телефон, браузер) и отвечает данными в формате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73152" cy="9144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85800" y="305409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8580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Уровень бизнес-логики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43000" y="3200400"/>
            <a:ext cx="886968" cy="228600"/>
          </a:xfrm>
          <a:prstGeom prst="roundRect">
            <a:avLst>
              <a:gd name="adj" fmla="val 16000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1143000" y="3200400"/>
            <a:ext cx="88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</a:rPr>
              <a:t>Pydantic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28803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Проверяет, что данные правильные, и считает итоговые расходы по подпискам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4" name="Shape 22"/>
          <p:cNvSpPr/>
          <p:nvPr/>
        </p:nvSpPr>
        <p:spPr>
          <a:xfrm>
            <a:off x="457200" y="379476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85800" y="410565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85800" y="41056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" y="3886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Уровень данных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143000" y="4251960"/>
            <a:ext cx="1792224" cy="228600"/>
          </a:xfrm>
          <a:prstGeom prst="roundRect">
            <a:avLst>
              <a:gd name="adj" fmla="val 16000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1143000" y="4251960"/>
            <a:ext cx="1792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SQLAlchemy + SQLite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34840" y="3931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Сохраняет подписки в базе данных и загружает их обратно по запросу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489204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4892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API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Реализованные эндпоинты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Эндпоинт — это адрес, по которому приложение обращается к серверу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594360" y="1801368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594360" y="180136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/subscriptions/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480560" y="169164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Список всех подписок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822960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94360" y="2322576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594360" y="2322576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563EB"/>
                </a:solidFill>
              </a:rPr>
              <a:t>POST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17320" y="221284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80560" y="221284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Создать новую подписку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594360" y="2843784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94360" y="2843784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</a:rPr>
              <a:t>PUT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17320" y="2734056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/subscriptions/{id}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273405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Изменить подписку по её ID-номеру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55264"/>
            <a:ext cx="822960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594360" y="3364992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594360" y="3364992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</a:rPr>
              <a:t>DELETE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417320" y="32552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/subscriptions/{id}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80560" y="325526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Удалить подписку по ID-номеру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776472"/>
            <a:ext cx="8229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594360" y="3886200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GET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17320" y="37764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/subscriptions/summary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0" y="37764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Сколько всего тратим в месяц и в год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8229600" cy="47548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594360" y="4407408"/>
            <a:ext cx="685800" cy="246888"/>
          </a:xfrm>
          <a:prstGeom prst="roundRect">
            <a:avLst>
              <a:gd name="adj" fmla="val 1481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594360" y="440740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6A34A"/>
                </a:solidFill>
              </a:rPr>
              <a:t>GET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417320" y="42976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480560" y="42976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Просто проверка: сервер жив?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57884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3578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КАЧЕСТВО КОДА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Тестирование и качество кода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2468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457200" y="1408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</a:rPr>
              <a:t>16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автотестов Pytest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98448"/>
            <a:ext cx="2468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3337560" y="1408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</a:rPr>
              <a:t>93%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3756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покрытие кода тестами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98448"/>
            <a:ext cx="2468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217920" y="1408176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563EB"/>
                </a:solidFill>
              </a:rPr>
              <a:t>100%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217920" y="2011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покрытие core-модулей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651759"/>
            <a:ext cx="8229600" cy="2342267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85800" y="274320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</a:rPr>
              <a:t>Что именно проверяют тесты?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26440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868680" y="320040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CRUD-операции — создание, просмотр, изменение, удаление подписок работают правильно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64845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868680" y="358444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Граничные случаи — ошибка 404 (запись не найдена) при обращении к несуществующей подписке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403250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868680" y="39684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Валидация — ошибка 422 (неверные данные) при отрицательной цене или неверном формате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4165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868680" y="435254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Бизнес-логика — корректный расчёт расходов (годовая подписка → цена делится на 12)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836676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366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72 ЧАСА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Этапы учебной практики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66928" y="138074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66928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2984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Анализ и UML-моделирование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5361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Требования, диаграммы, архитектура, схема БД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863840" y="140817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863840" y="14081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14 ч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01368"/>
            <a:ext cx="82296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566928" y="188366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566928" y="1883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18013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Настройка среды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039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FastAPI, Python 3.10, SQLAlchemy, зависимости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863840" y="191109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7863840" y="19110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12 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66928" y="238658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66928" y="2386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05840" y="230428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Разработка CRUD-модуля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254203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Роутер, модели, Pydantic-схемы, расчёт расходов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63840" y="241401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7863840" y="241401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20 ч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07208"/>
            <a:ext cx="82296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566928" y="288950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66928" y="2889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05840" y="28072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Тестирование и отладка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044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Pytest, coverage, исправление ошибок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63840" y="291693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3" name="Text 31"/>
          <p:cNvSpPr/>
          <p:nvPr/>
        </p:nvSpPr>
        <p:spPr>
          <a:xfrm>
            <a:off x="7863840" y="291693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12 ч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566928" y="339242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566928" y="33924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05840" y="331012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Docker-контейнеризация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5840" y="3547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Dockerfile, docker-compose.yml, запуск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341985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Text 38"/>
          <p:cNvSpPr/>
          <p:nvPr/>
        </p:nvSpPr>
        <p:spPr>
          <a:xfrm>
            <a:off x="7863840" y="341985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 6 ч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813048"/>
            <a:ext cx="8229600" cy="457200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566928" y="389534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566928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05840" y="38130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Рефакторинг и GitHub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005840" y="4050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Ruff, публикация кода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863840" y="392277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7" name="Text 45"/>
          <p:cNvSpPr/>
          <p:nvPr/>
        </p:nvSpPr>
        <p:spPr>
          <a:xfrm>
            <a:off x="7863840" y="392277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 4 ч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4315968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9" name="Shape 47"/>
          <p:cNvSpPr/>
          <p:nvPr/>
        </p:nvSpPr>
        <p:spPr>
          <a:xfrm>
            <a:off x="566928" y="4398264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0" name="Text 48"/>
          <p:cNvSpPr/>
          <p:nvPr/>
        </p:nvSpPr>
        <p:spPr>
          <a:xfrm>
            <a:off x="566928" y="43982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" y="431596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Документация и защита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05840" y="4553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Отчёт, дневник, демонстрация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863840" y="4425696"/>
            <a:ext cx="658368" cy="237744"/>
          </a:xfrm>
          <a:prstGeom prst="roundRect">
            <a:avLst>
              <a:gd name="adj" fmla="val 2307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4" name="Text 52"/>
          <p:cNvSpPr/>
          <p:nvPr/>
        </p:nvSpPr>
        <p:spPr>
          <a:xfrm>
            <a:off x="7863840" y="4425696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 4 ч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62940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6629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ИТОГИ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Итоги учебной практики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REST API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Полнофункциональный серверный модуль SubscriptionManager на FastAPI + SQLAlchemy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8888" y="129844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18888" y="1298448"/>
            <a:ext cx="7315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20056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CRUD + расходы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0056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Операции с подписками и расчёт ежемесячных / ежегодных расходов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73152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58368" y="2624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16 автотестов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944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Pytest, покрытие 93%, core-модули покрыты на 100%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18888" y="253288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18888" y="2532888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20056" y="2624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Docker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0056" y="29443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Приложение упаковано в контейнер — запускается одинаково на любом компьютере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58368" y="3858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Качество кода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Линтер Ruff, стандарт PEP 8, чёткое разделение кода на слои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18888" y="376732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18888" y="3767328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20056" y="3858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GitHub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0056" y="41788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github.com/Amir222555/SubscriptionManager-backend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502920" y="365760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2D3A4E"/>
          </a:solidFill>
          <a:ln w="12700">
            <a:solidFill>
              <a:srgbClr val="2D3A4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02920" y="36576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93C5FD"/>
                </a:solidFill>
              </a:rPr>
              <a:t>ЗАКЛЮЧЕНИЕ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Итоги учебной практики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0"/>
          </a:xfrm>
          <a:prstGeom prst="line">
            <a:avLst/>
          </a:prstGeom>
          <a:noFill/>
          <a:ln w="9525">
            <a:solidFill>
              <a:srgbClr val="3B4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502920" y="152704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Спроектирован, разработан и протестирован REST API SubscriptionManager на FastAPI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09397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85800" y="2029968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Применены современные подходы: трёхуровневая архитектура, ORM, валидация данных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85800" y="2596896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Проведено автоматическое тестирование: 16 тестов, покрытие 93%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Приложение упаковано в Docker-контейнер — запускается одинаково на любом компьютере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79476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Код опубликован в GitHub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8229600" cy="0"/>
          </a:xfrm>
          <a:prstGeom prst="line">
            <a:avLst/>
          </a:prstGeom>
          <a:noFill/>
          <a:ln w="9525">
            <a:solidFill>
              <a:srgbClr val="3B4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0292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Академия ТОП  ·  Набережные Челны  ·  2026  ·  Руководитель: Дубель А.А.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Telegram-бот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891B2"/>
                </a:solidFill>
              </a:rPr>
              <a:t>KretySalon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9525">
            <a:solidFill>
              <a:srgbClr val="3B4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02920" y="2377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Бот для онлайн-записи в салон красоты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249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</a:rPr>
              <a:t>с интеграцией SQLite и системой напоминаний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Производственная практика  ·  ПМ.02  ·  Салимгараев А.И.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2400300" cy="246888"/>
          </a:xfrm>
          <a:prstGeom prst="roundRect">
            <a:avLst>
              <a:gd name="adj" fmla="val 18519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24003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59669"/>
                </a:solidFill>
              </a:rPr>
              <a:t>ПРОИЗВОДСТВЕННАЯ ПРАКТИКА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Общая информация о практике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Студент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17520" y="1298448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Салимгараев Амир Ильдарович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8229600" cy="4297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94360" y="177393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Группа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177393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9/3-РПО-23/1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9424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94360" y="2249424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Колледж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17520" y="2249424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ММКЦТ «Академия ТОП», г. Набережные Челны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24912"/>
            <a:ext cx="8229600" cy="4297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94360" y="2724912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Период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17520" y="2724912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07.05.2026 — 24.05.2026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8229600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94360" y="3200400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Место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17520" y="3200400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ГАУ «ИТ-Парк», Казань (Казанский технопарк)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75888"/>
            <a:ext cx="8229600" cy="429768"/>
          </a:xfrm>
          <a:prstGeom prst="rect">
            <a:avLst/>
          </a:prstGeom>
          <a:solidFill>
            <a:srgbClr val="F9FA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594360" y="3675888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Руководитель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017520" y="3675888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Миргалимов Артур Рафаэлевич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51376"/>
            <a:ext cx="8229600" cy="429768"/>
          </a:xfrm>
          <a:prstGeom prst="rect">
            <a:avLst/>
          </a:prstGeom>
          <a:solidFill>
            <a:srgbClr val="ECFDF5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94360" y="4151376"/>
            <a:ext cx="2286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</a:rPr>
              <a:t>Итоговая оценка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017520" y="4151376"/>
            <a:ext cx="5486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5 (отлично)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57884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3578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ЦЕЛИ И ЗАДАЧИ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Что нужно было сделать?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886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Цели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385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1874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Научиться разрабатывать программные модули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603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822960" y="24963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Создать Telegram-бота для автоматической записи клиентов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18211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22960" y="311810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Спроектировать и реализовать базу данных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0390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822960" y="373989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Протестировать, отладить и задокументировать ПО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298448"/>
            <a:ext cx="3886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4983480" y="1417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Задачи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83480" y="19385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166360" y="18745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Проанализировать требования и спроектировать схему БД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24597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5166360" y="23957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Разработать кнопки </a:t>
            </a:r>
            <a:r>
              <a:rPr lang="en-US" sz="1300" dirty="0" err="1">
                <a:solidFill>
                  <a:srgbClr val="111827"/>
                </a:solidFill>
              </a:rPr>
              <a:t>для</a:t>
            </a:r>
            <a:r>
              <a:rPr lang="en-US" sz="1300" dirty="0">
                <a:solidFill>
                  <a:srgbClr val="111827"/>
                </a:solidFill>
              </a:rPr>
              <a:t> </a:t>
            </a:r>
            <a:r>
              <a:rPr lang="en-US" sz="1300" dirty="0" err="1">
                <a:solidFill>
                  <a:srgbClr val="111827"/>
                </a:solidFill>
              </a:rPr>
              <a:t>навигации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298094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166360" y="291693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Создать модули «Мои записи» и «Отмена»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83480" y="3502152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166360" y="34381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Реализовать панель администратора /admin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83480" y="402336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166360" y="395935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Настроить автоматические напоминания за 1 час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83480" y="454456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5166360" y="448056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Протестировать и составить документацию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271016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ПОТОК ЗАПИСИ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Процесс записи клиента — 6 шагов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</a:rPr>
              <a:t>FSM (конечный автомат) — бот всегда знает, на каком шаге находится клиент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3619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Мастер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Inline-список мастеров с именем и специализацией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73552" y="169164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3456432" y="1874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3456432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67912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Услуга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Выбор услуги из предложенных кнопок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169164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272784" y="18745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272784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84264" y="18562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Дата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Выбор даты из доступных слотов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4008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Время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Выбор свободного временного слота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73552" y="324612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8" name="Shape 26"/>
          <p:cNvSpPr/>
          <p:nvPr/>
        </p:nvSpPr>
        <p:spPr>
          <a:xfrm>
            <a:off x="3456432" y="34290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9" name="Text 27"/>
          <p:cNvSpPr/>
          <p:nvPr/>
        </p:nvSpPr>
        <p:spPr>
          <a:xfrm>
            <a:off x="3456432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867912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Телефон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Ввод номера через кнопку Reply-клавиатуры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9904" y="3246120"/>
            <a:ext cx="2606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33" name="Shape 31"/>
          <p:cNvSpPr/>
          <p:nvPr/>
        </p:nvSpPr>
        <p:spPr>
          <a:xfrm>
            <a:off x="6272784" y="342900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4" name="Text 32"/>
          <p:cNvSpPr/>
          <p:nvPr/>
        </p:nvSpPr>
        <p:spPr>
          <a:xfrm>
            <a:off x="6272784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84264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</a:rPr>
              <a:t>Подтверждение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72784" y="37947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Итоговая карточка со всей информацией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57884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3578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АВТОМАТИЗАЦИЯ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Умные функции бота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3886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73152" cy="3474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58368" y="1417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891B2"/>
                </a:solidFill>
              </a:rPr>
              <a:t>Автоматическое напоминание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0025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841248" y="19385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Уведомление отправляется однократно за 1 час до визита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26243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841248" y="25603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Статус отправки фиксируется в поле «reminded» в базе данных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246120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841248" y="31821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Форматирование через HTML-разметку Telegram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298448"/>
            <a:ext cx="38862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4800600" y="1298448"/>
            <a:ext cx="73152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001768" y="141732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</a:rPr>
              <a:t>Панель администратора /admin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01768" y="2066544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5184648" y="200253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ID, дата и время каждой записи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01768" y="2688336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5184648" y="2624328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Имя клиента, телефон, мастер, услуга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01768" y="3310128"/>
            <a:ext cx="82296" cy="822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5184648" y="324612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</a:rPr>
              <a:t>Итоговая стоимость визита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097280" cy="246888"/>
          </a:xfrm>
          <a:prstGeom prst="roundRect">
            <a:avLst>
              <a:gd name="adj" fmla="val 18519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2563EB"/>
                </a:solidFill>
              </a:rPr>
              <a:t>РЕАЛИЗАЦИЯ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Реализованные модули бота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73152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658368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БД и инициализация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1907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init_db, get_db, seed_data — 4 таблицы SQLite, автозаполнение тестовыми данными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18888" y="129844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818888" y="1298448"/>
            <a:ext cx="73152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5020056" y="13898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Система записи (FSM)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0056" y="171907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BookingState — 6 состояний, Inline- и Reply-клавиатуры, кнопки «Назад»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3288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457200" y="2532888"/>
            <a:ext cx="73152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658368" y="2624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Мои записи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29535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Список активных бронирований пользователя с кнопкой отмены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18888" y="253288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19" name="Shape 17"/>
          <p:cNvSpPr/>
          <p:nvPr/>
        </p:nvSpPr>
        <p:spPr>
          <a:xfrm>
            <a:off x="4818888" y="2532888"/>
            <a:ext cx="73152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5020056" y="2624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</a:rPr>
              <a:t>Отмена бронирования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0056" y="295351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Освобождение слота в БД при отмене, подтверждение клиенту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73152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658368" y="3858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Панель /admin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41879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Просмотр всех предстоящих визитов: дата, мастер, услуга, стоимость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18888" y="3767328"/>
            <a:ext cx="40690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ru-RU"/>
          </a:p>
        </p:txBody>
      </p:sp>
      <p:sp>
        <p:nvSpPr>
          <p:cNvPr id="27" name="Shape 25"/>
          <p:cNvSpPr/>
          <p:nvPr/>
        </p:nvSpPr>
        <p:spPr>
          <a:xfrm>
            <a:off x="4818888" y="3767328"/>
            <a:ext cx="73152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8" name="Text 26"/>
          <p:cNvSpPr/>
          <p:nvPr/>
        </p:nvSpPr>
        <p:spPr>
          <a:xfrm>
            <a:off x="5020056" y="3858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</a:rPr>
              <a:t>Напоминания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0056" y="41879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reminder_loop — асинхронный цикл, уведомление за 1 час, статус в БД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Спасибо за внимание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8229600" cy="0"/>
          </a:xfrm>
          <a:prstGeom prst="line">
            <a:avLst/>
          </a:prstGeom>
          <a:noFill/>
          <a:ln w="9525">
            <a:solidFill>
              <a:srgbClr val="3B4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CA3AF"/>
                </a:solidFill>
              </a:rPr>
              <a:t>Салимгараев Амир Ильдарович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8529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</a:rPr>
              <a:t>Группа 9/3-РПО-23/1  ·  Академия ТОП  ·  Набережные Челны  · 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0"/>
          </a:xfrm>
          <a:prstGeom prst="line">
            <a:avLst/>
          </a:prstGeom>
          <a:noFill/>
          <a:ln w="9525">
            <a:solidFill>
              <a:srgbClr val="3B4A5E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0292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</a:rPr>
              <a:t>github.com/Amir222555/SubscriptionManager-backend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1096</Words>
  <Application>Microsoft Office PowerPoint</Application>
  <PresentationFormat>Экран (16:9)</PresentationFormat>
  <Paragraphs>261</Paragraphs>
  <Slides>21</Slides>
  <Notes>21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о практике — Салимгараев А.И.</dc:title>
  <dc:subject>PptxGenJS Presentation</dc:subject>
  <dc:creator>PptxGenJS</dc:creator>
  <cp:lastModifiedBy>Office</cp:lastModifiedBy>
  <cp:revision>5</cp:revision>
  <dcterms:created xsi:type="dcterms:W3CDTF">2026-05-26T10:01:13Z</dcterms:created>
  <dcterms:modified xsi:type="dcterms:W3CDTF">2026-05-26T10:23:54Z</dcterms:modified>
</cp:coreProperties>
</file>